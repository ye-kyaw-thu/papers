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21" r:id="rId2"/>
    <p:sldId id="1116" r:id="rId3"/>
    <p:sldId id="1117" r:id="rId4"/>
    <p:sldId id="1022" r:id="rId5"/>
    <p:sldId id="1023" r:id="rId6"/>
    <p:sldId id="1024" r:id="rId7"/>
    <p:sldId id="1043" r:id="rId8"/>
    <p:sldId id="1046" r:id="rId9"/>
    <p:sldId id="1044" r:id="rId10"/>
    <p:sldId id="1112" r:id="rId11"/>
    <p:sldId id="1114" r:id="rId12"/>
    <p:sldId id="1115" r:id="rId13"/>
    <p:sldId id="1118" r:id="rId14"/>
    <p:sldId id="1049" r:id="rId15"/>
    <p:sldId id="1119" r:id="rId16"/>
    <p:sldId id="1053" r:id="rId17"/>
    <p:sldId id="1120" r:id="rId18"/>
    <p:sldId id="1094" r:id="rId19"/>
    <p:sldId id="1126" r:id="rId2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3FB"/>
    <a:srgbClr val="0000FF"/>
    <a:srgbClr val="DAF0F4"/>
    <a:srgbClr val="FFE4D0"/>
    <a:srgbClr val="FFB49E"/>
    <a:srgbClr val="F6AC98"/>
    <a:srgbClr val="FFFF00"/>
    <a:srgbClr val="FD947F"/>
    <a:srgbClr val="C4ADDB"/>
    <a:srgbClr val="D2A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711" autoAdjust="0"/>
    <p:restoredTop sz="85102"/>
  </p:normalViewPr>
  <p:slideViewPr>
    <p:cSldViewPr snapToGrid="0">
      <p:cViewPr varScale="1">
        <p:scale>
          <a:sx n="108" d="100"/>
          <a:sy n="108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9" d="100"/>
        <a:sy n="10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8C2D5F1-C71A-464A-A52A-4113C01E4AA3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45D71ED-F243-4976-B605-95F565AC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5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0969-7D34-F895-64AE-173DDBB5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5029E-3A72-559F-2ACC-70BC2C05F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903E6-0454-90B5-DEED-C3F17FF7F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334B8-6E7B-D8D3-ABF5-E782AC13C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4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41E9-D7AD-9BB3-6AF8-386BAFF3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03A17-A222-7671-F4B7-5C4A4775F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3F1DB-AEF0-BC52-5ECC-7CE04F70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1C1F4-DF09-4A12-D9FD-0BD9A83C6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7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50DD7-5CE2-3149-3082-F437F8D7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0F050-C2E1-BAC3-7F17-57F47D0A9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4F7FE-4CB3-C2FF-3376-A3D833193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B3C3-2053-C097-02E4-2086E52B6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8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8A23-D04C-66ED-9B6E-45E444D9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0E711-9520-A646-0B6F-655C8780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B9CF9-32B0-E903-02AE-5881E234C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DA9D-13A7-F0BE-5519-079B9498A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4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58A4-0231-180A-F8E2-77D96283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46463-71E4-D41D-C9A7-7E6FD8AB6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86800-2416-0078-3A14-6543306D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2389D-6A37-FCBD-36AF-8AE3A1823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52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40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A360-CE65-1F95-8A9C-09A2B74C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232B1-4F6E-0B17-E59C-AC4E37884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A2781-ED1F-67B7-3071-6843B6371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48439-C8A0-B80D-E5B8-B889A76A1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03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21475-8E94-097E-CEF5-E2AA7380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35A3-A343-2313-E095-EDBE4A55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3C966-1EC1-2B29-AF6C-5F220D67D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CF30A-7732-029B-16AC-74A217CBD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91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186D-0896-E87C-8B63-5C29AE1B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AAC2D-C903-7B13-12E8-06FD24321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8B7BC-14B4-45A9-3618-E7FA138AA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B09D6-2E45-F88F-D61E-393E86321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49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7DA5-7DB3-C177-BC47-01E55E76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1CD62-7BB1-3373-1B20-7FDF588D9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C1835-0B4C-3037-19B2-761861F3A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68596-9D60-7608-BFE3-157CA7F7A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02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FCC8-A2FB-52F0-BBD5-C9C06112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6D758-1A64-E96E-5A1D-C6C6AC0A2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2ACCC-2EC8-95A7-5C98-97EF0FF21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EAC3A-5DD4-4426-1E9A-0A8E33BD2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27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77F4-DCCE-DEA9-86C9-5D01EBE9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45279-6F13-8FF5-0EE0-C041C5170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B3990-1AB1-53E5-E599-1132EFDB0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32DD-4077-69D9-EA42-A9D6A8912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93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64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5F4F-23BA-B6AF-68C4-B12F7D2C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9889F-8EBD-C162-0BB7-53A93C7E8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E4FAE-8A2D-18BF-173C-73CA4BD9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2B872-1FCD-C8B8-EE34-5612A50DA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19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52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1D51-4821-6FDF-E5F3-CE448295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BD51A-20A1-2B45-AF00-E4195CC30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76856-DACE-B03E-3C1D-DDBD10C93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0BE8B-A901-CB29-D6AD-7DA6B9997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12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13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2682-918D-0516-E034-26432900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EDA00-B095-266C-4243-4B9FD4BAA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F5A85-2055-FAFE-7A6A-9AE808255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763D-4316-DC4B-06C7-1D4AF343A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D71ED-F243-4976-B605-95F565AC54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8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FA42-23C4-4C5E-BDD8-EC85AB24A245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0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05A3-A333-4A2E-9A18-4A29ADB5454F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1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DA72E-9BA9-4D0B-ACE8-16D83636F502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5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71F0-CFB6-44C4-8D90-D49EA859EDE6}" type="datetime1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A389-CE31-4CDF-97BD-68CB8B962F96}" type="datetime1">
              <a:rPr lang="en-US" smtClean="0"/>
              <a:t>11/11/24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1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2DC8E-9C19-49FB-9E3B-256FC855FAC5}" type="datetime1">
              <a:rPr lang="en-US" smtClean="0"/>
              <a:t>11/11/24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5DE62-1372-4175-AD6F-B5E23DD309AB}" type="datetime1">
              <a:rPr lang="en-US" smtClean="0"/>
              <a:t>11/11/24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7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8F257-FD33-4A5F-A5D1-8FCF21CD6738}" type="datetime1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7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B556-E989-4B30-91A2-B2E5F58A270A}" type="datetime1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2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8B4-0D37-4E97-9ABE-CBE1E73C090A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94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DEDF-AAAA-4430-B815-2F8EEBD0CC51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0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68313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59313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ja-JP"/>
              <a:t>2010/7/19</a:t>
            </a:r>
            <a:endParaRPr lang="en-US" altLang="ja-JP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VENOA2018</a:t>
            </a:r>
            <a:endParaRPr lang="en-US" altLang="ja-JP" dirty="0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ＭＳ Ｐゴシック" pitchFamily="50" charset="-128"/>
                <a:cs typeface="Tahoma" pitchFamily="34" charset="0"/>
              </a:defRPr>
            </a:lvl1pPr>
          </a:lstStyle>
          <a:p>
            <a:pPr>
              <a:defRPr/>
            </a:pPr>
            <a:fld id="{4F2D1A04-3FFB-4A6A-827A-2FB70DEEA9EA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2969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0381B-3489-433C-ACBB-7AF0519C51E2}" type="datetime1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44709-F718-4D07-8599-C7905EF2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4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79235D2-1186-45CC-88E5-CE256BFFAB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786" y="1548672"/>
            <a:ext cx="8783272" cy="1692002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ja-JP" sz="385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Study on AI-Driven Question Generation Using ChatGPT for </a:t>
            </a:r>
            <a:br>
              <a:rPr lang="en-US" altLang="ja-JP" sz="385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ja-JP" sz="385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Programming Education</a:t>
            </a:r>
            <a:endParaRPr lang="en-US" altLang="en-US" sz="385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Google Shape;90;p1">
            <a:extLst>
              <a:ext uri="{FF2B5EF4-FFF2-40B4-BE49-F238E27FC236}">
                <a16:creationId xmlns:a16="http://schemas.microsoft.com/office/drawing/2014/main" id="{044D883C-5516-DA9E-E43F-350E22934915}"/>
              </a:ext>
            </a:extLst>
          </p:cNvPr>
          <p:cNvSpPr txBox="1">
            <a:spLocks noGrp="1"/>
          </p:cNvSpPr>
          <p:nvPr/>
        </p:nvSpPr>
        <p:spPr>
          <a:xfrm>
            <a:off x="79936" y="3512328"/>
            <a:ext cx="8796434" cy="189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SzPts val="3000"/>
            </a:pPr>
            <a:r>
              <a:rPr lang="en-US" sz="3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Khaing Hsu Wai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</a:b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Ye Kyaw Thu, Thazin Myint Oo, Nobuo Funabiki, Lu Xiqin, Akihiro Yamamura </a:t>
            </a:r>
          </a:p>
        </p:txBody>
      </p:sp>
      <p:cxnSp>
        <p:nvCxnSpPr>
          <p:cNvPr id="11" name="Google Shape;92;p1">
            <a:extLst>
              <a:ext uri="{FF2B5EF4-FFF2-40B4-BE49-F238E27FC236}">
                <a16:creationId xmlns:a16="http://schemas.microsoft.com/office/drawing/2014/main" id="{AACED926-3A9E-3A75-2BF1-CD9FFB5F0DBF}"/>
              </a:ext>
            </a:extLst>
          </p:cNvPr>
          <p:cNvCxnSpPr>
            <a:cxnSpLocks/>
          </p:cNvCxnSpPr>
          <p:nvPr/>
        </p:nvCxnSpPr>
        <p:spPr>
          <a:xfrm>
            <a:off x="79936" y="3320706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3D468F7-F01B-2C7B-ED5A-A80A2ECD2982}"/>
              </a:ext>
            </a:extLst>
          </p:cNvPr>
          <p:cNvSpPr txBox="1"/>
          <p:nvPr/>
        </p:nvSpPr>
        <p:spPr>
          <a:xfrm>
            <a:off x="33422" y="13430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 2024: The 6</a:t>
            </a:r>
            <a:r>
              <a:rPr lang="en-US" b="1" baseline="30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Workshop on Innovation Initiatives in NLP/AI/Education</a:t>
            </a:r>
          </a:p>
        </p:txBody>
      </p:sp>
      <p:pic>
        <p:nvPicPr>
          <p:cNvPr id="5" name="Picture 4" descr="A black text with red and orange letters&#10;&#10;Description automatically generated">
            <a:extLst>
              <a:ext uri="{FF2B5EF4-FFF2-40B4-BE49-F238E27FC236}">
                <a16:creationId xmlns:a16="http://schemas.microsoft.com/office/drawing/2014/main" id="{6F4EE3CB-5231-5321-F75E-5D14F0C36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77" y="599640"/>
            <a:ext cx="1785134" cy="610267"/>
          </a:xfrm>
          <a:prstGeom prst="rect">
            <a:avLst/>
          </a:prstGeom>
        </p:spPr>
      </p:pic>
      <p:pic>
        <p:nvPicPr>
          <p:cNvPr id="7" name="Picture 6" descr="A logo of a book&#10;&#10;Description automatically generated">
            <a:extLst>
              <a:ext uri="{FF2B5EF4-FFF2-40B4-BE49-F238E27FC236}">
                <a16:creationId xmlns:a16="http://schemas.microsoft.com/office/drawing/2014/main" id="{73A7CA32-4BDF-5301-A1D3-B12B12DA6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870" y="526345"/>
            <a:ext cx="967563" cy="766556"/>
          </a:xfrm>
          <a:prstGeom prst="rect">
            <a:avLst/>
          </a:prstGeom>
        </p:spPr>
      </p:pic>
      <p:sp>
        <p:nvSpPr>
          <p:cNvPr id="12" name="Google Shape;95;p1">
            <a:extLst>
              <a:ext uri="{FF2B5EF4-FFF2-40B4-BE49-F238E27FC236}">
                <a16:creationId xmlns:a16="http://schemas.microsoft.com/office/drawing/2014/main" id="{E027E164-A308-3747-9A24-1B3AE1D9D85E}"/>
              </a:ext>
            </a:extLst>
          </p:cNvPr>
          <p:cNvSpPr txBox="1"/>
          <p:nvPr/>
        </p:nvSpPr>
        <p:spPr>
          <a:xfrm>
            <a:off x="1087239" y="5952419"/>
            <a:ext cx="669897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November 12, 2024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2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3504-FB39-9D4B-72C0-00E502E7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F9790F-F65E-8DBE-6C68-4FFAC06862F8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ja-JP" alt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7E4B89A-4647-955C-CE9F-E2E8E300D0B3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74738"/>
            <a:ext cx="8710613" cy="55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and Contribution</a:t>
            </a:r>
          </a:p>
          <a:p>
            <a:endParaRPr lang="en-US" alt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ChatGPT-based Question Generation Program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Evaluations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  <a:endParaRPr lang="ja-JP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083E-0AED-CC72-5AD2-28054EFB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US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8BC3E-0A46-4BD6-1662-A279091C4143}"/>
              </a:ext>
            </a:extLst>
          </p:cNvPr>
          <p:cNvSpPr txBox="1"/>
          <p:nvPr/>
        </p:nvSpPr>
        <p:spPr>
          <a:xfrm>
            <a:off x="4002440" y="635178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IINAE2024</a:t>
            </a:r>
          </a:p>
        </p:txBody>
      </p:sp>
    </p:spTree>
    <p:extLst>
      <p:ext uri="{BB962C8B-B14F-4D97-AF65-F5344CB8AC3E}">
        <p14:creationId xmlns:p14="http://schemas.microsoft.com/office/powerpoint/2010/main" val="389845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D0E6-19E9-9147-E159-8CD1292C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EA11034-4AD9-A485-05BE-D90747814CED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ja-JP" alt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91868B5-83C0-13A8-6953-207BFA0765D3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74738"/>
            <a:ext cx="8710613" cy="55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and Contribution</a:t>
            </a:r>
          </a:p>
          <a:p>
            <a:endParaRPr lang="en-US" alt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ChatGPT-based Question Generation Program</a:t>
            </a:r>
          </a:p>
          <a:p>
            <a:endParaRPr lang="en-US" altLang="ja-JP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Evaluations</a:t>
            </a:r>
          </a:p>
          <a:p>
            <a:endParaRPr lang="en-US" altLang="ja-JP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  <a:endParaRPr lang="ja-JP" altLang="en-US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765E-778B-9014-1E8E-2CE17FB9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fld>
            <a:endParaRPr lang="en-US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4CB62-D7B8-3500-87ED-B534205527A6}"/>
              </a:ext>
            </a:extLst>
          </p:cNvPr>
          <p:cNvSpPr txBox="1"/>
          <p:nvPr/>
        </p:nvSpPr>
        <p:spPr>
          <a:xfrm>
            <a:off x="4002440" y="635178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IINAE2024</a:t>
            </a:r>
          </a:p>
        </p:txBody>
      </p:sp>
    </p:spTree>
    <p:extLst>
      <p:ext uri="{BB962C8B-B14F-4D97-AF65-F5344CB8AC3E}">
        <p14:creationId xmlns:p14="http://schemas.microsoft.com/office/powerpoint/2010/main" val="162082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22E3-AE28-104C-F2A9-39167432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8C76-D183-A73C-7AFA-0EB76AD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670"/>
            <a:ext cx="7886700" cy="514889"/>
          </a:xfrm>
        </p:spPr>
        <p:txBody>
          <a:bodyPr>
            <a:noAutofit/>
          </a:bodyPr>
          <a:lstStyle/>
          <a:p>
            <a:pPr algn="ctr"/>
            <a:r>
              <a:rPr lang="en-US" altLang="ja-JP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Programming Education</a:t>
            </a:r>
            <a:endParaRPr kumimoji="1" lang="ja-JP" altLang="en-US" sz="3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E016C6-1062-3E20-C295-5FD84F90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C3207421-4D09-39F9-812E-380B755B0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974635"/>
            <a:ext cx="906011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Programming strengthens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critical thinking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problem-solving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digital age.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universities include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programming 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build a strong foundational skill set.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is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essential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fields like data science, machine learning, and AI.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education equips students for data-focused careers in a tech-driven world.</a:t>
            </a: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376F28BA-6C0D-ECF5-3F31-98BFE64B3196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5317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C8B6-7287-D921-F70E-61E05615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E49DC8-27DE-742D-C2A0-14BBE6A4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670"/>
            <a:ext cx="7886700" cy="514889"/>
          </a:xfrm>
        </p:spPr>
        <p:txBody>
          <a:bodyPr>
            <a:noAutofit/>
          </a:bodyPr>
          <a:lstStyle/>
          <a:p>
            <a:pPr algn="ctr"/>
            <a:r>
              <a:rPr lang="en-US" altLang="ja-JP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Programming Education</a:t>
            </a:r>
            <a:endParaRPr kumimoji="1" lang="ja-JP" altLang="en-US" sz="3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AF8886-9DDF-8331-646C-A7CD4A64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pic>
        <p:nvPicPr>
          <p:cNvPr id="3" name="Picture 2" descr="A graph with numbers and a bar&#10;&#10;Description automatically generated">
            <a:extLst>
              <a:ext uri="{FF2B5EF4-FFF2-40B4-BE49-F238E27FC236}">
                <a16:creationId xmlns:a16="http://schemas.microsoft.com/office/drawing/2014/main" id="{EC415344-3462-DC18-322E-3169FE938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05" y="2179117"/>
            <a:ext cx="7231468" cy="4133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0095A1-ADA2-BE71-1FC5-8C815B430FBD}"/>
              </a:ext>
            </a:extLst>
          </p:cNvPr>
          <p:cNvSpPr/>
          <p:nvPr/>
        </p:nvSpPr>
        <p:spPr>
          <a:xfrm>
            <a:off x="850605" y="2216949"/>
            <a:ext cx="7359059" cy="388140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50">
              <a:solidFill>
                <a:schemeClr val="accent1"/>
              </a:solidFill>
            </a:endParaRPr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019B0DCC-69E5-EB0F-F478-A0804F9D2112}"/>
              </a:ext>
            </a:extLst>
          </p:cNvPr>
          <p:cNvSpPr/>
          <p:nvPr/>
        </p:nvSpPr>
        <p:spPr>
          <a:xfrm>
            <a:off x="288032" y="6400831"/>
            <a:ext cx="7928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[1] https://</a:t>
            </a:r>
            <a:r>
              <a:rPr kumimoji="1" lang="en-US" altLang="ja-JP" sz="1200" i="0" u="none" strike="noStrike" kern="1200" cap="none" spc="0" normalizeH="0" baseline="0" noProof="0" dirty="0" err="1"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spectrum.ieee.org</a:t>
            </a:r>
            <a:r>
              <a:rPr kumimoji="1" lang="en-US" altLang="ja-JP" sz="120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/top-programming-languages-2024</a:t>
            </a:r>
            <a:endParaRPr kumimoji="1" lang="ja-JP" altLang="en-US" sz="1200" i="0" u="none" strike="noStrike" kern="1200" cap="none" spc="0" normalizeH="0" baseline="0" noProof="0" dirty="0"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charset="-128"/>
              <a:cs typeface="Tahoma" panose="020B0604030504040204" pitchFamily="34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25E968D-EDD0-A867-4F04-36177B419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932103"/>
            <a:ext cx="906011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itchFamily="34" charset="0"/>
              </a:rPr>
              <a:t>Python is ranked at the </a:t>
            </a: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most popular </a:t>
            </a:r>
            <a:r>
              <a:rPr lang="en-US" altLang="ja-JP" sz="2800" dirty="0">
                <a:latin typeface="Tahoma" pitchFamily="34" charset="0"/>
              </a:rPr>
              <a:t>programming language.</a:t>
            </a:r>
          </a:p>
          <a:p>
            <a:pPr lvl="1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000" dirty="0">
                <a:latin typeface="Tahoma" pitchFamily="34" charset="0"/>
              </a:rPr>
              <a:t>IEEE Spectrum, August 2024</a:t>
            </a:r>
            <a:r>
              <a:rPr lang="en-US" altLang="ja-JP" sz="2000" baseline="30000" dirty="0">
                <a:latin typeface="Tahoma" pitchFamily="34" charset="0"/>
              </a:rPr>
              <a:t>[1]</a:t>
            </a:r>
          </a:p>
          <a:p>
            <a:pPr>
              <a:buSzPct val="75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b="1" dirty="0">
              <a:latin typeface="Tahoma" pitchFamily="34" charset="0"/>
            </a:endParaRPr>
          </a:p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b="1" dirty="0">
              <a:latin typeface="Tahoma" pitchFamily="34" charset="0"/>
            </a:endParaRPr>
          </a:p>
        </p:txBody>
      </p:sp>
      <p:cxnSp>
        <p:nvCxnSpPr>
          <p:cNvPr id="10" name="Google Shape;92;p1">
            <a:extLst>
              <a:ext uri="{FF2B5EF4-FFF2-40B4-BE49-F238E27FC236}">
                <a16:creationId xmlns:a16="http://schemas.microsoft.com/office/drawing/2014/main" id="{2CDD01DB-CEAE-22EE-6442-AEA3B54C667E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0114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54E1-2276-3458-74D0-F13E23A0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22FBF7-B3D2-05E9-F6C2-1A38762D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0" y="192670"/>
            <a:ext cx="8943152" cy="514889"/>
          </a:xfrm>
        </p:spPr>
        <p:txBody>
          <a:bodyPr>
            <a:noAutofit/>
          </a:bodyPr>
          <a:lstStyle/>
          <a:p>
            <a:pPr algn="ctr"/>
            <a:r>
              <a:rPr lang="en-US" altLang="ja-JP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Importance of Practice for Learning</a:t>
            </a:r>
            <a:endParaRPr kumimoji="1" lang="ja-JP" altLang="en-US" sz="3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69E1C8-2A31-EE32-4E19-463DF9CE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55AAC5B-5C1B-A22C-6F0B-4410C589A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974635"/>
            <a:ext cx="906011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Quizzes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practice questions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crucial for mastering programming concepts.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Hands-on exercises help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reinforce skills 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Teachers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need to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quizzes and exercises effectively with the </a:t>
            </a:r>
            <a:r>
              <a:rPr lang="en-US" altLang="ja-JP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curriculum</a:t>
            </a:r>
            <a:r>
              <a:rPr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buSzPct val="75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9DEBAC70-6DC9-1186-EC52-AA53A327573B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3229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CA97C-1848-A160-8304-C9488A89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58CEA9-60E6-5C9D-8F57-E4D46AAC230E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 and Contribution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52FC99F4-05CA-1A38-B04C-726C78B09910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ext Box 4">
            <a:extLst>
              <a:ext uri="{FF2B5EF4-FFF2-40B4-BE49-F238E27FC236}">
                <a16:creationId xmlns:a16="http://schemas.microsoft.com/office/drawing/2014/main" id="{E8293D56-7538-7DF1-0A98-7DFA4E2C0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itchFamily="34" charset="0"/>
              </a:rPr>
              <a:t>Making quizzes and practice questions for diverse programming topics can be </a:t>
            </a:r>
            <a:r>
              <a:rPr lang="en-US" altLang="ja-JP" sz="2800" dirty="0">
                <a:solidFill>
                  <a:srgbClr val="C00000"/>
                </a:solidFill>
                <a:latin typeface="Tahoma" pitchFamily="34" charset="0"/>
              </a:rPr>
              <a:t>time-consuming</a:t>
            </a:r>
            <a:r>
              <a:rPr lang="en-US" altLang="ja-JP" sz="2800" dirty="0">
                <a:latin typeface="Tahoma" pitchFamily="34" charset="0"/>
              </a:rPr>
              <a:t> for the teachers.</a:t>
            </a: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itchFamily="34" charset="0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65FEC6A-3A10-4049-46FE-FEA71D4DF186}"/>
              </a:ext>
            </a:extLst>
          </p:cNvPr>
          <p:cNvSpPr/>
          <p:nvPr/>
        </p:nvSpPr>
        <p:spPr>
          <a:xfrm>
            <a:off x="4081784" y="2431301"/>
            <a:ext cx="863600" cy="997699"/>
          </a:xfrm>
          <a:prstGeom prst="downArrow">
            <a:avLst/>
          </a:prstGeom>
          <a:solidFill>
            <a:srgbClr val="DAF0F4"/>
          </a:solidFill>
          <a:ln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n>
                <a:solidFill>
                  <a:schemeClr val="tx1"/>
                </a:solidFill>
                <a:prstDash val="sysDot"/>
              </a:ln>
            </a:endParaRPr>
          </a:p>
        </p:txBody>
      </p:sp>
      <p:sp>
        <p:nvSpPr>
          <p:cNvPr id="22" name="AutoShape 10">
            <a:extLst>
              <a:ext uri="{FF2B5EF4-FFF2-40B4-BE49-F238E27FC236}">
                <a16:creationId xmlns:a16="http://schemas.microsoft.com/office/drawing/2014/main" id="{F603C0A1-0D2B-9A38-793A-9A91D33B9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64557"/>
            <a:ext cx="8352928" cy="1848387"/>
          </a:xfrm>
          <a:prstGeom prst="roundRect">
            <a:avLst>
              <a:gd name="adj" fmla="val 16667"/>
            </a:avLst>
          </a:prstGeom>
          <a:solidFill>
            <a:srgbClr val="DAF0F4"/>
          </a:solidFill>
          <a:ln w="57150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pPr defTabSz="914400">
              <a:defRPr/>
            </a:pPr>
            <a:r>
              <a:rPr lang="en-US" altLang="ja-JP" sz="2800" dirty="0">
                <a:latin typeface="Tahoma" pitchFamily="34" charset="0"/>
              </a:rPr>
              <a:t>A ChatGPT-based question generation program that </a:t>
            </a: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automatically</a:t>
            </a:r>
            <a:r>
              <a:rPr lang="en-US" altLang="ja-JP" sz="2800" dirty="0">
                <a:latin typeface="Tahoma" pitchFamily="34" charset="0"/>
              </a:rPr>
              <a:t> </a:t>
            </a: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creates</a:t>
            </a:r>
            <a:r>
              <a:rPr lang="en-US" altLang="ja-JP" sz="2800" dirty="0">
                <a:latin typeface="Tahoma" pitchFamily="34" charset="0"/>
              </a:rPr>
              <a:t> Python programming </a:t>
            </a: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questions</a:t>
            </a:r>
            <a:r>
              <a:rPr lang="en-US" altLang="ja-JP" sz="2800" dirty="0">
                <a:latin typeface="Tahoma" pitchFamily="34" charset="0"/>
              </a:rPr>
              <a:t>, saving educators time and supporting effective learning.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377A5-5406-DA01-7C64-0F298F2E06D5}"/>
              </a:ext>
            </a:extLst>
          </p:cNvPr>
          <p:cNvSpPr txBox="1"/>
          <p:nvPr/>
        </p:nvSpPr>
        <p:spPr>
          <a:xfrm>
            <a:off x="4945383" y="2641655"/>
            <a:ext cx="151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</a:t>
            </a:r>
          </a:p>
        </p:txBody>
      </p:sp>
    </p:spTree>
    <p:extLst>
      <p:ext uri="{BB962C8B-B14F-4D97-AF65-F5344CB8AC3E}">
        <p14:creationId xmlns:p14="http://schemas.microsoft.com/office/powerpoint/2010/main" val="17109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41B3-7507-1C17-8891-A826CFF6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2012EFD-08EE-4830-3725-941923CF5F41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ja-JP" alt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C69A1F-C061-C771-EFC2-F037C196BB71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74738"/>
            <a:ext cx="8710613" cy="55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and Contribution</a:t>
            </a:r>
          </a:p>
          <a:p>
            <a:endParaRPr lang="en-US" alt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ChatGPT-based Question Generation Program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Evaluations</a:t>
            </a:r>
          </a:p>
          <a:p>
            <a:endParaRPr lang="en-US" altLang="ja-JP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  <a:endParaRPr lang="ja-JP" altLang="en-US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9ADE0-29D0-F492-1514-6E9DEB09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fld>
            <a:endParaRPr lang="en-US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5D0C6-F459-1818-BB03-C21E12DE7530}"/>
              </a:ext>
            </a:extLst>
          </p:cNvPr>
          <p:cNvSpPr txBox="1"/>
          <p:nvPr/>
        </p:nvSpPr>
        <p:spPr>
          <a:xfrm>
            <a:off x="4002440" y="635178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IINAE2024</a:t>
            </a:r>
          </a:p>
        </p:txBody>
      </p:sp>
    </p:spTree>
    <p:extLst>
      <p:ext uri="{BB962C8B-B14F-4D97-AF65-F5344CB8AC3E}">
        <p14:creationId xmlns:p14="http://schemas.microsoft.com/office/powerpoint/2010/main" val="152224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D7D7-9931-FE1C-213A-1653A84B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2FBB1-6F19-C4E6-9972-8E678002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670"/>
            <a:ext cx="9144000" cy="514889"/>
          </a:xfrm>
        </p:spPr>
        <p:txBody>
          <a:bodyPr>
            <a:noAutofit/>
          </a:bodyPr>
          <a:lstStyle/>
          <a:p>
            <a:pPr algn="ctr"/>
            <a:r>
              <a:rPr lang="en-US" altLang="ja-JP" sz="3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 Workflow of Question Generation</a:t>
            </a:r>
            <a:endParaRPr kumimoji="1" lang="ja-JP" altLang="en-US" sz="305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21F464-A33A-7E9D-23A0-196F74E0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0AD1367C-74E2-9100-4960-15C43A0A58CB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Picture 5" descr="A diagram of a course&#10;&#10;Description automatically generated">
            <a:extLst>
              <a:ext uri="{FF2B5EF4-FFF2-40B4-BE49-F238E27FC236}">
                <a16:creationId xmlns:a16="http://schemas.microsoft.com/office/drawing/2014/main" id="{037DC760-BFED-E91A-66C6-CB52D86B3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22" y="1605524"/>
            <a:ext cx="8553700" cy="3817067"/>
          </a:xfrm>
          <a:prstGeom prst="rect">
            <a:avLst/>
          </a:prstGeom>
        </p:spPr>
      </p:pic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EA22E00A-C308-084E-9887-9A1F89A03699}"/>
              </a:ext>
            </a:extLst>
          </p:cNvPr>
          <p:cNvSpPr/>
          <p:nvPr/>
        </p:nvSpPr>
        <p:spPr>
          <a:xfrm>
            <a:off x="479418" y="5735582"/>
            <a:ext cx="7928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ja-JP" sz="140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Figure: Overall Architecture of ChatGPT-based Question Generation Process </a:t>
            </a:r>
            <a:endParaRPr kumimoji="1" lang="ja-JP" altLang="en-US" sz="1400" i="0" u="none" strike="noStrike" kern="1200" cap="none" spc="0" normalizeH="0" baseline="0" noProof="0" dirty="0"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charset="-128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E0A838-82A7-DC93-0F9C-F60F36B50AF8}"/>
              </a:ext>
            </a:extLst>
          </p:cNvPr>
          <p:cNvGrpSpPr/>
          <p:nvPr/>
        </p:nvGrpSpPr>
        <p:grpSpPr>
          <a:xfrm>
            <a:off x="2536976" y="1370367"/>
            <a:ext cx="2694242" cy="1734341"/>
            <a:chOff x="2536976" y="1370367"/>
            <a:chExt cx="2694242" cy="17343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C36B94-B7F6-4C53-DD21-4A5A1D874EA8}"/>
                </a:ext>
              </a:extLst>
            </p:cNvPr>
            <p:cNvSpPr/>
            <p:nvPr/>
          </p:nvSpPr>
          <p:spPr>
            <a:xfrm>
              <a:off x="2676243" y="1519816"/>
              <a:ext cx="2554975" cy="1584892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050">
                <a:solidFill>
                  <a:schemeClr val="accent1"/>
                </a:solidFill>
              </a:endParaRPr>
            </a:p>
          </p:txBody>
        </p:sp>
        <p:sp>
          <p:nvSpPr>
            <p:cNvPr id="9" name="Octagon 8">
              <a:extLst>
                <a:ext uri="{FF2B5EF4-FFF2-40B4-BE49-F238E27FC236}">
                  <a16:creationId xmlns:a16="http://schemas.microsoft.com/office/drawing/2014/main" id="{CACFD79C-C7E9-6F02-7009-188DFC48BC78}"/>
                </a:ext>
              </a:extLst>
            </p:cNvPr>
            <p:cNvSpPr/>
            <p:nvPr/>
          </p:nvSpPr>
          <p:spPr>
            <a:xfrm>
              <a:off x="2536976" y="1370367"/>
              <a:ext cx="278534" cy="235157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M" dirty="0"/>
                <a:t>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C90DAF-5A7A-C38F-FCEF-E5276E16A8B8}"/>
              </a:ext>
            </a:extLst>
          </p:cNvPr>
          <p:cNvGrpSpPr/>
          <p:nvPr/>
        </p:nvGrpSpPr>
        <p:grpSpPr>
          <a:xfrm>
            <a:off x="4761572" y="1967231"/>
            <a:ext cx="4032312" cy="3285244"/>
            <a:chOff x="1928063" y="1402236"/>
            <a:chExt cx="4032312" cy="328524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5FE4FC-2F30-57EF-3D5E-0DEF7DE7ABC9}"/>
                </a:ext>
              </a:extLst>
            </p:cNvPr>
            <p:cNvSpPr/>
            <p:nvPr/>
          </p:nvSpPr>
          <p:spPr>
            <a:xfrm>
              <a:off x="1928063" y="1519815"/>
              <a:ext cx="3925228" cy="3167665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050">
                <a:solidFill>
                  <a:schemeClr val="accent1"/>
                </a:solidFill>
              </a:endParaRPr>
            </a:p>
          </p:txBody>
        </p:sp>
        <p:sp>
          <p:nvSpPr>
            <p:cNvPr id="18" name="Octagon 17">
              <a:extLst>
                <a:ext uri="{FF2B5EF4-FFF2-40B4-BE49-F238E27FC236}">
                  <a16:creationId xmlns:a16="http://schemas.microsoft.com/office/drawing/2014/main" id="{01FEA3A5-22AE-8F93-3C60-081AA4320C4A}"/>
                </a:ext>
              </a:extLst>
            </p:cNvPr>
            <p:cNvSpPr/>
            <p:nvPr/>
          </p:nvSpPr>
          <p:spPr>
            <a:xfrm>
              <a:off x="5681841" y="1402236"/>
              <a:ext cx="278534" cy="235157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MM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E1EF93-0288-BA6D-D783-5C95DC5B6BBB}"/>
              </a:ext>
            </a:extLst>
          </p:cNvPr>
          <p:cNvGrpSpPr/>
          <p:nvPr/>
        </p:nvGrpSpPr>
        <p:grpSpPr>
          <a:xfrm>
            <a:off x="103755" y="3104708"/>
            <a:ext cx="4278674" cy="2059546"/>
            <a:chOff x="2215467" y="2781330"/>
            <a:chExt cx="4278674" cy="205954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787BB6-BE77-313F-33BA-F74D6849D6A5}"/>
                </a:ext>
              </a:extLst>
            </p:cNvPr>
            <p:cNvSpPr/>
            <p:nvPr/>
          </p:nvSpPr>
          <p:spPr>
            <a:xfrm>
              <a:off x="2354734" y="2930779"/>
              <a:ext cx="4139407" cy="1910097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050">
                <a:solidFill>
                  <a:schemeClr val="accent1"/>
                </a:solidFill>
              </a:endParaRPr>
            </a:p>
          </p:txBody>
        </p:sp>
        <p:sp>
          <p:nvSpPr>
            <p:cNvPr id="21" name="Octagon 20">
              <a:extLst>
                <a:ext uri="{FF2B5EF4-FFF2-40B4-BE49-F238E27FC236}">
                  <a16:creationId xmlns:a16="http://schemas.microsoft.com/office/drawing/2014/main" id="{98B861CB-E138-3B27-A88A-6D52F34717B6}"/>
                </a:ext>
              </a:extLst>
            </p:cNvPr>
            <p:cNvSpPr/>
            <p:nvPr/>
          </p:nvSpPr>
          <p:spPr>
            <a:xfrm>
              <a:off x="2215467" y="2781330"/>
              <a:ext cx="278534" cy="235157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MM" dirty="0"/>
            </a:p>
          </p:txBody>
        </p:sp>
      </p:grpSp>
    </p:spTree>
    <p:extLst>
      <p:ext uri="{BB962C8B-B14F-4D97-AF65-F5344CB8AC3E}">
        <p14:creationId xmlns:p14="http://schemas.microsoft.com/office/powerpoint/2010/main" val="66107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CC26-C151-7145-3477-9E1158D3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A4C59-EC99-6CDC-B771-84D822CC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670"/>
            <a:ext cx="9144000" cy="514889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Code Analysis and Question Generation</a:t>
            </a:r>
            <a:endParaRPr kumimoji="1" lang="ja-JP" altLang="en-US" sz="3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6C217F-62D5-6043-0B18-3CB9A620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28F230A5-7FDD-305F-73C8-1F0F1C4C2DD1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" name="Picture 9" descr="A diagram of a course material source code&#10;&#10;Description automatically generated">
            <a:extLst>
              <a:ext uri="{FF2B5EF4-FFF2-40B4-BE49-F238E27FC236}">
                <a16:creationId xmlns:a16="http://schemas.microsoft.com/office/drawing/2014/main" id="{58181B77-C339-1BBB-3554-57213722B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9" t="14962" r="6807" b="12501"/>
          <a:stretch/>
        </p:blipFill>
        <p:spPr>
          <a:xfrm>
            <a:off x="146844" y="1163726"/>
            <a:ext cx="2810107" cy="1315832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A4A1B3D4-A9B0-53D3-649D-F6642724B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004" y="1163726"/>
            <a:ext cx="56982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 Python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codes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textbooks, open-source repositories, and educational websites.</a:t>
            </a:r>
          </a:p>
        </p:txBody>
      </p:sp>
      <p:pic>
        <p:nvPicPr>
          <p:cNvPr id="13" name="Picture 12" descr="A diagram of a diagram&#10;&#10;Description automatically generated">
            <a:extLst>
              <a:ext uri="{FF2B5EF4-FFF2-40B4-BE49-F238E27FC236}">
                <a16:creationId xmlns:a16="http://schemas.microsoft.com/office/drawing/2014/main" id="{126F7535-54BF-8DFC-9FE2-EA4C5E912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2" y="3819292"/>
            <a:ext cx="2903810" cy="1981195"/>
          </a:xfrm>
          <a:prstGeom prst="rect">
            <a:avLst/>
          </a:prstGeom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id="{F0FBA954-546D-4953-4C44-22B348984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004" y="3521533"/>
            <a:ext cx="5698274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code is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into Google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Colab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where each code snippet is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using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ChatGPT’s API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analyzed code.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of Questions:</a:t>
            </a:r>
          </a:p>
          <a:p>
            <a:pPr marL="914400" lvl="1" indent="-457200" algn="just">
              <a:buFont typeface="Wingdings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Understanding</a:t>
            </a:r>
          </a:p>
          <a:p>
            <a:pPr marL="914400" lvl="1" indent="-457200" algn="just">
              <a:buFont typeface="Wingdings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Prediction</a:t>
            </a:r>
          </a:p>
          <a:p>
            <a:pPr marL="914400" lvl="1" indent="-457200" algn="just">
              <a:buFont typeface="Wingdings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Completion</a:t>
            </a:r>
          </a:p>
        </p:txBody>
      </p:sp>
    </p:spTree>
    <p:extLst>
      <p:ext uri="{BB962C8B-B14F-4D97-AF65-F5344CB8AC3E}">
        <p14:creationId xmlns:p14="http://schemas.microsoft.com/office/powerpoint/2010/main" val="344138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CF0E-6F09-0C89-B7C7-2A3016A5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442A2-D401-719C-2FA7-280CD354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670"/>
            <a:ext cx="9144000" cy="51488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 Design and Question Formatting</a:t>
            </a:r>
            <a:endParaRPr kumimoji="1" lang="ja-JP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A141C8-9C5F-BCEE-02EE-B167DCC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566EDD51-E02A-32A8-172C-4F7D4686354C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2C94CBC1-1111-542C-F3F0-85C748DD0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1" y="2438402"/>
            <a:ext cx="2903810" cy="198119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12F5C3-FE82-7C3F-1015-0F21A56CB789}"/>
              </a:ext>
            </a:extLst>
          </p:cNvPr>
          <p:cNvSpPr/>
          <p:nvPr/>
        </p:nvSpPr>
        <p:spPr>
          <a:xfrm>
            <a:off x="3657600" y="1750743"/>
            <a:ext cx="5073803" cy="7415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4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 am a teacher and want to generate exactly one {</a:t>
            </a:r>
            <a:r>
              <a:rPr lang="en-US" sz="14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question_type</a:t>
            </a:r>
            <a:r>
              <a:rPr lang="en-US" sz="14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 question for my students based on the following Python code:</a:t>
            </a:r>
          </a:p>
          <a:p>
            <a:pPr algn="ctr"/>
            <a:endParaRPr lang="en-JP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1B24F9DB-7A0F-3DC8-83DA-24C5140C985E}"/>
              </a:ext>
            </a:extLst>
          </p:cNvPr>
          <p:cNvSpPr/>
          <p:nvPr/>
        </p:nvSpPr>
        <p:spPr>
          <a:xfrm>
            <a:off x="4327882" y="2552477"/>
            <a:ext cx="4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ja-JP" sz="140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Figure: </a:t>
            </a:r>
            <a:r>
              <a:rPr lang="en-US" sz="1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 example for contextual introduction.</a:t>
            </a:r>
            <a:endParaRPr lang="en-JP" sz="1400" b="0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ja-JP" altLang="en-US" sz="1400" i="0" u="none" strike="noStrike" kern="1200" cap="none" spc="0" normalizeH="0" baseline="0" noProof="0" dirty="0"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charset="-128"/>
              <a:cs typeface="Tahoma" panose="020B0604030504040204" pitchFamily="34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065FD9E-E167-EE34-B55C-0741D3042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004" y="918404"/>
            <a:ext cx="5698274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scenario is set to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ChatGPT on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educational goals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instructions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also important in generating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 question types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Understanding and Output Prediction: 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MCQ with 3 choices and the correct answer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True/False question and the correct answer</a:t>
            </a:r>
          </a:p>
          <a:p>
            <a:pPr lvl="2" algn="just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Completion: 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Fill-in-the-blank by removing a key part of the code and the correct answer</a:t>
            </a:r>
          </a:p>
        </p:txBody>
      </p:sp>
    </p:spTree>
    <p:extLst>
      <p:ext uri="{BB962C8B-B14F-4D97-AF65-F5344CB8AC3E}">
        <p14:creationId xmlns:p14="http://schemas.microsoft.com/office/powerpoint/2010/main" val="409993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D56C-CCFB-005F-8D9E-6587DEBF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17600B-0C47-DEC7-5630-8ED1827D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670"/>
            <a:ext cx="9144000" cy="51488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and Review</a:t>
            </a:r>
            <a:endParaRPr kumimoji="1" lang="ja-JP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F60C11-3CE1-F87D-17B6-AB7F665C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D7FB7D-D140-460B-912B-D38EAC3BB962}" type="slidenum">
              <a:rPr kumimoji="1" lang="en-US" altLang="ja-JP" sz="1400" i="0" u="none" strike="noStrike" kern="1200" cap="none" spc="0" normalizeH="0" baseline="0" noProof="0" smtClean="0">
                <a:ln>
                  <a:noFill/>
                </a:ln>
                <a:solidFill>
                  <a:srgbClr val="303048"/>
                </a:solidFill>
                <a:effectLst/>
                <a:uLnTx/>
                <a:uFillTx/>
                <a:latin typeface="Tahoma" pitchFamily="34" charset="0"/>
                <a:ea typeface="ＭＳ Ｐゴシック" pitchFamily="50" charset="-128"/>
                <a:cs typeface="Tahom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303048"/>
              </a:solidFill>
              <a:effectLst/>
              <a:uLnTx/>
              <a:uFillTx/>
              <a:latin typeface="Tahoma" pitchFamily="34" charset="0"/>
              <a:ea typeface="ＭＳ Ｐゴシック" pitchFamily="50" charset="-128"/>
              <a:cs typeface="Tahoma" pitchFamily="34" charset="0"/>
            </a:endParaRPr>
          </a:p>
        </p:txBody>
      </p:sp>
      <p:cxnSp>
        <p:nvCxnSpPr>
          <p:cNvPr id="3" name="Google Shape;92;p1">
            <a:extLst>
              <a:ext uri="{FF2B5EF4-FFF2-40B4-BE49-F238E27FC236}">
                <a16:creationId xmlns:a16="http://schemas.microsoft.com/office/drawing/2014/main" id="{D741B37D-0788-F3CE-5B18-3FC1F8480091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" name="Picture 9" descr="Diagram of a diagram of a teacher&#10;&#10;Description automatically generated">
            <a:extLst>
              <a:ext uri="{FF2B5EF4-FFF2-40B4-BE49-F238E27FC236}">
                <a16:creationId xmlns:a16="http://schemas.microsoft.com/office/drawing/2014/main" id="{D2682AFD-7724-BED9-955C-2F246EC11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2" y="832695"/>
            <a:ext cx="3086408" cy="202515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9BD539-4824-52BB-5546-B25911D5D763}"/>
              </a:ext>
            </a:extLst>
          </p:cNvPr>
          <p:cNvSpPr/>
          <p:nvPr/>
        </p:nvSpPr>
        <p:spPr>
          <a:xfrm>
            <a:off x="3506827" y="918404"/>
            <a:ext cx="4676540" cy="19207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name = "Alice" # String data type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age = 25 # Integer data type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height = 5.6 # Float data type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</a:rPr>
              <a:t>is_student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 = True # Boolean data type</a:t>
            </a:r>
          </a:p>
          <a:p>
            <a:endParaRPr lang="en-US" sz="14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print("Hello , my name is", name)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print("I am", age , "years old.")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print("My height is", height , "feet.")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print("Am I a student ?",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</a:rPr>
              <a:t>is_student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 )</a:t>
            </a:r>
            <a:endParaRPr lang="en-JP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08C77A8-F7A6-29CB-AEA0-31965584E5DC}"/>
              </a:ext>
            </a:extLst>
          </p:cNvPr>
          <p:cNvSpPr/>
          <p:nvPr/>
        </p:nvSpPr>
        <p:spPr>
          <a:xfrm>
            <a:off x="3506827" y="3249325"/>
            <a:ext cx="4676540" cy="33311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** Code understanding Questions :**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** Multiple Choice Question (MCQ):**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What data type is used to represent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whether someone is a student or not in the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code?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A) String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B) Integer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C) Boolean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** Correct Answer :** C) Boolean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** True/False Question :**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The variable ‘height’ represents the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height in meters .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** Correct Answer :** False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</a:rPr>
              <a:t>(It represents the height in feet.)</a:t>
            </a:r>
            <a:endParaRPr lang="en-JP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Curved Down Arrow 14">
            <a:extLst>
              <a:ext uri="{FF2B5EF4-FFF2-40B4-BE49-F238E27FC236}">
                <a16:creationId xmlns:a16="http://schemas.microsoft.com/office/drawing/2014/main" id="{1296E0E4-9A99-258C-D024-BF4978FEFC53}"/>
              </a:ext>
            </a:extLst>
          </p:cNvPr>
          <p:cNvSpPr/>
          <p:nvPr/>
        </p:nvSpPr>
        <p:spPr>
          <a:xfrm rot="5400000">
            <a:off x="7815139" y="2874598"/>
            <a:ext cx="1105857" cy="294565"/>
          </a:xfrm>
          <a:prstGeom prst="curvedDownArrow">
            <a:avLst/>
          </a:prstGeom>
          <a:solidFill>
            <a:srgbClr val="0070C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2A7F0B-7A94-6769-2ED1-B2BC22C3F9F7}"/>
              </a:ext>
            </a:extLst>
          </p:cNvPr>
          <p:cNvSpPr txBox="1"/>
          <p:nvPr/>
        </p:nvSpPr>
        <p:spPr>
          <a:xfrm>
            <a:off x="3624146" y="6550223"/>
            <a:ext cx="6144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Generated questions with answers for code understanding.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DE2C61-C9F5-D8BA-D3B7-4C014E320FB2}"/>
              </a:ext>
            </a:extLst>
          </p:cNvPr>
          <p:cNvSpPr txBox="1"/>
          <p:nvPr/>
        </p:nvSpPr>
        <p:spPr>
          <a:xfrm>
            <a:off x="4059044" y="2810407"/>
            <a:ext cx="4884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source code for variables and data types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A182C63-8D65-21BB-69DD-C6CAB5A9A60A}"/>
              </a:ext>
            </a:extLst>
          </p:cNvPr>
          <p:cNvSpPr/>
          <p:nvPr/>
        </p:nvSpPr>
        <p:spPr>
          <a:xfrm rot="5400000">
            <a:off x="3133382" y="4554070"/>
            <a:ext cx="421344" cy="710952"/>
          </a:xfrm>
          <a:prstGeom prst="downArrow">
            <a:avLst/>
          </a:prstGeom>
          <a:solidFill>
            <a:srgbClr val="DAF0F4"/>
          </a:solidFill>
          <a:ln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n>
                <a:solidFill>
                  <a:schemeClr val="tx1"/>
                </a:solidFill>
                <a:prstDash val="sysDot"/>
              </a:ln>
            </a:endParaRPr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0D30F978-4596-F708-2DDB-B7F88C1D1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22" y="3964557"/>
            <a:ext cx="2750437" cy="1889978"/>
          </a:xfrm>
          <a:prstGeom prst="roundRect">
            <a:avLst>
              <a:gd name="adj" fmla="val 16667"/>
            </a:avLst>
          </a:prstGeom>
          <a:solidFill>
            <a:srgbClr val="DAF0F4"/>
          </a:solidFill>
          <a:ln w="57150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pPr defTabSz="914400"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ready-to-use resource for student assessments</a:t>
            </a:r>
            <a:endParaRPr lang="en-US" altLang="ja-JP" sz="20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/>
      <p:bldP spid="19" grpId="0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32C0-FEFB-29DD-BC39-CD94EBE9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D123EA9-CAF4-37A2-7993-C37ED508584A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ja-JP" alt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F07F3B-2A21-B924-A08C-2FE4CEA96920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74738"/>
            <a:ext cx="8710613" cy="55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and Contribution</a:t>
            </a:r>
          </a:p>
          <a:p>
            <a:endParaRPr lang="en-US" altLang="en-US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ChatGPT-based Question Generation Program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Evaluations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  <a:endParaRPr lang="ja-JP" altLang="en-US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818E-F2EC-A925-65D2-6EA6A84E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</a:t>
            </a:fld>
            <a:endParaRPr lang="en-US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8AE34-5D08-BD38-5C1F-611A9E6F176F}"/>
              </a:ext>
            </a:extLst>
          </p:cNvPr>
          <p:cNvSpPr txBox="1"/>
          <p:nvPr/>
        </p:nvSpPr>
        <p:spPr>
          <a:xfrm>
            <a:off x="4002440" y="635178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IINAE2024</a:t>
            </a:r>
          </a:p>
        </p:txBody>
      </p:sp>
    </p:spTree>
    <p:extLst>
      <p:ext uri="{BB962C8B-B14F-4D97-AF65-F5344CB8AC3E}">
        <p14:creationId xmlns:p14="http://schemas.microsoft.com/office/powerpoint/2010/main" val="406302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CA97C-1848-A160-8304-C9488A89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58CEA9-60E6-5C9D-8F57-E4D46AAC230E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Set Up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52FC99F4-05CA-1A38-B04C-726C78B09910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 Box 4">
            <a:extLst>
              <a:ext uri="{FF2B5EF4-FFF2-40B4-BE49-F238E27FC236}">
                <a16:creationId xmlns:a16="http://schemas.microsoft.com/office/drawing/2014/main" id="{665B4EA1-DB4E-AA50-15A2-B230E2210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598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28</a:t>
            </a:r>
            <a:r>
              <a:rPr lang="en-US" altLang="ja-JP" sz="2800" dirty="0">
                <a:latin typeface="Tahoma" pitchFamily="34" charset="0"/>
              </a:rPr>
              <a:t> Python programming </a:t>
            </a:r>
            <a:r>
              <a:rPr lang="en-US" altLang="ja-JP" sz="2800" dirty="0">
                <a:solidFill>
                  <a:srgbClr val="0070C0"/>
                </a:solidFill>
                <a:latin typeface="Tahoma" pitchFamily="34" charset="0"/>
              </a:rPr>
              <a:t>source codes </a:t>
            </a:r>
            <a:r>
              <a:rPr lang="en-US" altLang="ja-JP" sz="2800" dirty="0">
                <a:latin typeface="Tahoma" pitchFamily="34" charset="0"/>
              </a:rPr>
              <a:t>were prepared to cover: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Introduction to Python (9 source codes),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Intermediate Python (10 source codes), and 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Intermediate Python for Data Science (9 source codes)</a:t>
            </a:r>
          </a:p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itchFamily="34" charset="0"/>
            </a:endParaRPr>
          </a:p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experiment was conducted online and link with </a:t>
            </a: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140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generated questions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was shared with lab members via email.</a:t>
            </a:r>
          </a:p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Participants completed the questions independently, without supervision.</a:t>
            </a:r>
            <a:endParaRPr lang="en-US" altLang="ja-JP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itchFamily="34" charset="0"/>
            </a:endParaRPr>
          </a:p>
          <a:p>
            <a:pPr algn="just"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8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62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B82B-173A-23D2-99B5-DAD737D4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DD755-0791-6EC6-402F-E93B0B43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00303B-B7BF-1146-F8A5-60F92A2C9D0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6988"/>
            <a:ext cx="91440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2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 Analysis of Question Generation Methods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4F50F995-7919-3BEC-4EDC-D4B8B7A5756A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 Box 4">
            <a:extLst>
              <a:ext uri="{FF2B5EF4-FFF2-40B4-BE49-F238E27FC236}">
                <a16:creationId xmlns:a16="http://schemas.microsoft.com/office/drawing/2014/main" id="{024BC779-7729-E1C6-080A-1C84BBAD4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1677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itchFamily="34" charset="0"/>
              </a:rPr>
              <a:t>Overview of prompting methods: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Zero-shot: No examples provided in the prompt.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One-shot: One example provided in the prompt.</a:t>
            </a:r>
          </a:p>
          <a:p>
            <a:pPr marL="914400" lvl="1" indent="-4572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500" dirty="0">
                <a:latin typeface="Tahoma" pitchFamily="34" charset="0"/>
              </a:rPr>
              <a:t>Few-shot: Multiple examples provided in the prompt.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6DF478-F961-7679-0AD8-BDA138609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62151"/>
              </p:ext>
            </p:extLst>
          </p:nvPr>
        </p:nvGraphicFramePr>
        <p:xfrm>
          <a:off x="146845" y="2743200"/>
          <a:ext cx="8796434" cy="328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261">
                  <a:extLst>
                    <a:ext uri="{9D8B030D-6E8A-4147-A177-3AD203B41FA5}">
                      <a16:colId xmlns:a16="http://schemas.microsoft.com/office/drawing/2014/main" val="1465842402"/>
                    </a:ext>
                  </a:extLst>
                </a:gridCol>
                <a:gridCol w="782343">
                  <a:extLst>
                    <a:ext uri="{9D8B030D-6E8A-4147-A177-3AD203B41FA5}">
                      <a16:colId xmlns:a16="http://schemas.microsoft.com/office/drawing/2014/main" val="2558191569"/>
                    </a:ext>
                  </a:extLst>
                </a:gridCol>
                <a:gridCol w="732459">
                  <a:extLst>
                    <a:ext uri="{9D8B030D-6E8A-4147-A177-3AD203B41FA5}">
                      <a16:colId xmlns:a16="http://schemas.microsoft.com/office/drawing/2014/main" val="3893315748"/>
                    </a:ext>
                  </a:extLst>
                </a:gridCol>
                <a:gridCol w="802219">
                  <a:extLst>
                    <a:ext uri="{9D8B030D-6E8A-4147-A177-3AD203B41FA5}">
                      <a16:colId xmlns:a16="http://schemas.microsoft.com/office/drawing/2014/main" val="3637692978"/>
                    </a:ext>
                  </a:extLst>
                </a:gridCol>
                <a:gridCol w="732459">
                  <a:extLst>
                    <a:ext uri="{9D8B030D-6E8A-4147-A177-3AD203B41FA5}">
                      <a16:colId xmlns:a16="http://schemas.microsoft.com/office/drawing/2014/main" val="635044875"/>
                    </a:ext>
                  </a:extLst>
                </a:gridCol>
                <a:gridCol w="1616062">
                  <a:extLst>
                    <a:ext uri="{9D8B030D-6E8A-4147-A177-3AD203B41FA5}">
                      <a16:colId xmlns:a16="http://schemas.microsoft.com/office/drawing/2014/main" val="907579782"/>
                    </a:ext>
                  </a:extLst>
                </a:gridCol>
                <a:gridCol w="2952631">
                  <a:extLst>
                    <a:ext uri="{9D8B030D-6E8A-4147-A177-3AD203B41FA5}">
                      <a16:colId xmlns:a16="http://schemas.microsoft.com/office/drawing/2014/main" val="2058170529"/>
                    </a:ext>
                  </a:extLst>
                </a:gridCol>
              </a:tblGrid>
              <a:tr h="614874">
                <a:tc rowSpan="2"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Prompt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Code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JP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Output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JP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Code Completion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Issues 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0760"/>
                  </a:ext>
                </a:extLst>
              </a:tr>
              <a:tr h="361691">
                <a:tc vMerge="1">
                  <a:txBody>
                    <a:bodyPr/>
                    <a:lstStyle/>
                    <a:p>
                      <a:pPr algn="ctr"/>
                      <a:endParaRPr lang="en-JP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MCQ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T/F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MCQ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T/F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Fill-in-blank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JP" sz="12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017967"/>
                  </a:ext>
                </a:extLst>
              </a:tr>
              <a:tr h="868057"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96.3%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96.3%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53.7%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Low accuracy for T/F, moderate for Fill-in-Blank</a:t>
                      </a:r>
                      <a:endParaRPr lang="en-JP" sz="14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526246"/>
                  </a:ext>
                </a:extLst>
              </a:tr>
              <a:tr h="868057"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One-shot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Duplicate questions, missing answers</a:t>
                      </a:r>
                      <a:endParaRPr lang="en-JP" sz="14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005180"/>
                  </a:ext>
                </a:extLst>
              </a:tr>
              <a:tr h="576348"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Few-shot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  <a:r>
                        <a:rPr lang="en-JP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elevant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4504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DB6B06-7BC2-D19B-F5E5-B06980B6179F}"/>
              </a:ext>
            </a:extLst>
          </p:cNvPr>
          <p:cNvSpPr/>
          <p:nvPr/>
        </p:nvSpPr>
        <p:spPr>
          <a:xfrm>
            <a:off x="200721" y="5527662"/>
            <a:ext cx="8742557" cy="444418"/>
          </a:xfrm>
          <a:prstGeom prst="round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12B0FF11-7773-0717-D17F-1AA3E6A1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78" y="4001490"/>
            <a:ext cx="7737272" cy="1280694"/>
          </a:xfrm>
          <a:prstGeom prst="roundRect">
            <a:avLst>
              <a:gd name="adj" fmla="val 16667"/>
            </a:avLst>
          </a:prstGeom>
          <a:solidFill>
            <a:srgbClr val="DAF0F4"/>
          </a:solidFill>
          <a:ln w="57150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Few-shot prompting was selected for its consistent accuracy and reliable output, ensuring high-quality questions for educational use.</a:t>
            </a:r>
            <a:endParaRPr lang="en-JP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9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CA97C-1848-A160-8304-C9488A89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58CEA9-60E6-5C9D-8F57-E4D46AAC230E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Solution Results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52FC99F4-05CA-1A38-B04C-726C78B09910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Picture 5" descr="A graph of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FBB68CFB-B778-EDA5-29B3-5F28A4467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56" y="2352786"/>
            <a:ext cx="6887688" cy="4245835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CE8F201B-8A94-8671-EC11-390B93EF0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buSzPct val="75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dirty="0">
                <a:latin typeface="Tahoma" pitchFamily="34" charset="0"/>
              </a:rPr>
              <a:t>Educational Background of Participants</a:t>
            </a:r>
          </a:p>
          <a:p>
            <a:pPr marL="800100" lvl="1" indent="-342900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Bachelor, Master, and PhD students participated, providing a range of experience levels in programming</a:t>
            </a:r>
            <a:endParaRPr lang="en-US" altLang="ja-JP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FA5E7101-ED06-CDF9-04B6-CBFC26BBB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3913574"/>
            <a:ext cx="7761287" cy="741554"/>
          </a:xfrm>
          <a:prstGeom prst="roundRect">
            <a:avLst>
              <a:gd name="adj" fmla="val 16667"/>
            </a:avLst>
          </a:prstGeom>
          <a:solidFill>
            <a:srgbClr val="DAF0F4"/>
          </a:solidFill>
          <a:ln w="57150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students scored above 80%, indicating strong comprehension of foundational programming concepts.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C02BE0E-396E-7B44-C044-DE2E6EF29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4817277"/>
            <a:ext cx="7761287" cy="741554"/>
          </a:xfrm>
          <a:prstGeom prst="roundRect">
            <a:avLst>
              <a:gd name="adj" fmla="val 16667"/>
            </a:avLst>
          </a:prstGeom>
          <a:solidFill>
            <a:srgbClr val="FFE4D0"/>
          </a:solidFill>
          <a:ln w="57150" algn="ctr">
            <a:solidFill>
              <a:srgbClr val="C00000"/>
            </a:solidFill>
            <a:round/>
            <a:headEnd/>
            <a:tailEnd/>
          </a:ln>
        </p:spPr>
        <p:txBody>
          <a:bodyPr anchor="ctr"/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Completion task had a lower correct rate, showing students may need additional support in practical coding skills.</a:t>
            </a:r>
          </a:p>
        </p:txBody>
      </p:sp>
    </p:spTree>
    <p:extLst>
      <p:ext uri="{BB962C8B-B14F-4D97-AF65-F5344CB8AC3E}">
        <p14:creationId xmlns:p14="http://schemas.microsoft.com/office/powerpoint/2010/main" val="83901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BA56-94C3-BBF8-A903-1AE63C3B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ABDD80E-F42C-8775-DD08-766630871EC6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ja-JP" alt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79808D-9C11-AC78-AE0F-A5956F6A86E6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74738"/>
            <a:ext cx="8710613" cy="55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and Contribution</a:t>
            </a:r>
          </a:p>
          <a:p>
            <a:endParaRPr lang="en-US" alt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2">
                    <a:lumMod val="9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ChatGPT-based Question Generation Program</a:t>
            </a:r>
          </a:p>
          <a:p>
            <a:endParaRPr lang="en-US" altLang="ja-JP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Evaluations</a:t>
            </a:r>
          </a:p>
          <a:p>
            <a:endParaRPr lang="en-US" altLang="ja-JP" sz="3200" b="1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  <a:endParaRPr lang="ja-JP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0915-6C0A-DEB5-5E38-4E19BC79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z="14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fld>
            <a:endParaRPr lang="en-US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903E2-60FE-A546-6A43-ADD822BDA86E}"/>
              </a:ext>
            </a:extLst>
          </p:cNvPr>
          <p:cNvSpPr txBox="1"/>
          <p:nvPr/>
        </p:nvSpPr>
        <p:spPr>
          <a:xfrm>
            <a:off x="4002440" y="635178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IINAE2024</a:t>
            </a:r>
          </a:p>
        </p:txBody>
      </p:sp>
    </p:spTree>
    <p:extLst>
      <p:ext uri="{BB962C8B-B14F-4D97-AF65-F5344CB8AC3E}">
        <p14:creationId xmlns:p14="http://schemas.microsoft.com/office/powerpoint/2010/main" val="1076362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CA97C-1848-A160-8304-C9488A89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58CEA9-60E6-5C9D-8F57-E4D46AAC230E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52FC99F4-05CA-1A38-B04C-726C78B09910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ext Box 4">
            <a:extLst>
              <a:ext uri="{FF2B5EF4-FFF2-40B4-BE49-F238E27FC236}">
                <a16:creationId xmlns:a16="http://schemas.microsoft.com/office/drawing/2014/main" id="{E8293D56-7538-7DF1-0A98-7DFA4E2C0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634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SzPct val="75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b="1" dirty="0">
                <a:solidFill>
                  <a:srgbClr val="0000FF"/>
                </a:solidFill>
                <a:latin typeface="Tahoma" pitchFamily="34" charset="0"/>
              </a:rPr>
              <a:t>Conclusion</a:t>
            </a:r>
            <a:r>
              <a:rPr lang="en-US" altLang="ja-JP" sz="2800" dirty="0">
                <a:latin typeface="Tahoma" pitchFamily="34" charset="0"/>
              </a:rPr>
              <a:t>:</a:t>
            </a:r>
          </a:p>
          <a:p>
            <a:pPr marL="914400" lvl="1" indent="-457200" algn="just">
              <a:buSzPct val="75000"/>
              <a:buFont typeface="Wingdings" pitchFamily="2" charset="2"/>
              <a:buChar char="ü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Effective Question Generation</a:t>
            </a:r>
            <a:endParaRPr lang="en-US" altLang="ja-JP" sz="2600" dirty="0">
              <a:latin typeface="Tahoma" pitchFamily="34" charset="0"/>
            </a:endParaRP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200" dirty="0">
                <a:latin typeface="Tahoma" pitchFamily="34" charset="0"/>
              </a:rPr>
              <a:t>The proposed ChatGPT-based system effectively creates quality questions for Python education, with Few-shot prompting achieving the highest accuracy and reliability.</a:t>
            </a: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200" dirty="0">
              <a:latin typeface="Tahoma" pitchFamily="34" charset="0"/>
            </a:endParaRPr>
          </a:p>
          <a:p>
            <a:pPr marL="914400" lvl="1" indent="-457200" algn="just">
              <a:buSzPct val="75000"/>
              <a:buFont typeface="Wingdings" pitchFamily="2" charset="2"/>
              <a:buChar char="ü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Student Performance Insights</a:t>
            </a:r>
            <a:endParaRPr lang="en-US" altLang="ja-JP" sz="2600" dirty="0">
              <a:latin typeface="Tahoma" pitchFamily="34" charset="0"/>
            </a:endParaRP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200" dirty="0">
                <a:latin typeface="Tahoma" pitchFamily="34" charset="0"/>
              </a:rPr>
              <a:t>High scores in Code Understanding and Output Prediction indicate strong foundational learning.</a:t>
            </a: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200" dirty="0">
              <a:latin typeface="Tahoma" pitchFamily="34" charset="0"/>
            </a:endParaRP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200" dirty="0">
                <a:latin typeface="Tahoma" pitchFamily="34" charset="0"/>
              </a:rPr>
              <a:t>Lower scores in Code Completion highlight the need for more practical coding practice.</a:t>
            </a: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400" dirty="0">
              <a:latin typeface="Tahoma" pitchFamily="34" charset="0"/>
            </a:endParaRPr>
          </a:p>
          <a:p>
            <a:pPr marL="914400" lvl="1" indent="-457200" algn="just">
              <a:buSzPct val="75000"/>
              <a:buFont typeface="Wingdings" pitchFamily="2" charset="2"/>
              <a:buChar char="ü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Educational Value</a:t>
            </a:r>
          </a:p>
          <a:p>
            <a:pPr marL="1371600" lvl="2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200" dirty="0">
                <a:latin typeface="Tahoma" pitchFamily="34" charset="0"/>
              </a:rPr>
              <a:t>The system saves time for educators and provides targeted practice for students, enhancing the overall learning experience.</a:t>
            </a:r>
            <a:endParaRPr lang="en-US" altLang="ja-JP" sz="28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088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BE74-4B63-E3A1-4C12-4597B781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07190-270D-1CC1-3F36-99A6F9A8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709-F718-4D07-8599-C7905EF2CB30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BBABD-4534-2184-5068-310C19C66E8D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-26988"/>
            <a:ext cx="8229600" cy="998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Works</a:t>
            </a:r>
          </a:p>
        </p:txBody>
      </p:sp>
      <p:cxnSp>
        <p:nvCxnSpPr>
          <p:cNvPr id="7" name="Google Shape;92;p1">
            <a:extLst>
              <a:ext uri="{FF2B5EF4-FFF2-40B4-BE49-F238E27FC236}">
                <a16:creationId xmlns:a16="http://schemas.microsoft.com/office/drawing/2014/main" id="{14E42221-8B8C-F31D-CEA2-0281292D489F}"/>
              </a:ext>
            </a:extLst>
          </p:cNvPr>
          <p:cNvCxnSpPr>
            <a:cxnSpLocks/>
          </p:cNvCxnSpPr>
          <p:nvPr/>
        </p:nvCxnSpPr>
        <p:spPr>
          <a:xfrm>
            <a:off x="146844" y="793267"/>
            <a:ext cx="8796434" cy="0"/>
          </a:xfrm>
          <a:prstGeom prst="straightConnector1">
            <a:avLst/>
          </a:prstGeom>
          <a:noFill/>
          <a:ln w="57150" cap="flat" cmpd="thickThin">
            <a:solidFill>
              <a:srgbClr val="00469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ext Box 4">
            <a:extLst>
              <a:ext uri="{FF2B5EF4-FFF2-40B4-BE49-F238E27FC236}">
                <a16:creationId xmlns:a16="http://schemas.microsoft.com/office/drawing/2014/main" id="{F6E587FA-0006-0096-46C2-FD05B3B44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0" y="825773"/>
            <a:ext cx="8859388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just">
              <a:buSzPct val="75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800" b="1" dirty="0">
                <a:solidFill>
                  <a:srgbClr val="0000FF"/>
                </a:solidFill>
                <a:latin typeface="Tahoma" pitchFamily="34" charset="0"/>
              </a:rPr>
              <a:t>Future Works</a:t>
            </a:r>
            <a:r>
              <a:rPr lang="en-US" altLang="ja-JP" sz="2800" dirty="0">
                <a:latin typeface="Tahoma" pitchFamily="34" charset="0"/>
              </a:rPr>
              <a:t>:</a:t>
            </a: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Refined Prompt Design: </a:t>
            </a:r>
            <a:r>
              <a:rPr lang="en-US" altLang="ja-JP" sz="2600" dirty="0">
                <a:latin typeface="Tahoma" pitchFamily="34" charset="0"/>
              </a:rPr>
              <a:t>Enhance prompts to create a wider variety of questions and adapt to different programming languages.</a:t>
            </a: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600" dirty="0">
              <a:latin typeface="Tahoma" pitchFamily="34" charset="0"/>
            </a:endParaRP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Broader Testing</a:t>
            </a:r>
            <a:r>
              <a:rPr lang="en-US" altLang="ja-JP" sz="2600" dirty="0">
                <a:latin typeface="Tahoma" pitchFamily="34" charset="0"/>
              </a:rPr>
              <a:t>: Test with more participants and educational settings to validate effectiveness.</a:t>
            </a: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600" dirty="0">
              <a:solidFill>
                <a:srgbClr val="0070C0"/>
              </a:solidFill>
              <a:latin typeface="Tahoma" pitchFamily="34" charset="0"/>
            </a:endParaRP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Adaptive Questioning: </a:t>
            </a:r>
            <a:r>
              <a:rPr lang="en-US" altLang="ja-JP" sz="2600" dirty="0">
                <a:latin typeface="Tahoma" pitchFamily="34" charset="0"/>
              </a:rPr>
              <a:t>Develop a system to adjust question difficulty based on student progress.</a:t>
            </a: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US" altLang="ja-JP" sz="2600" dirty="0">
              <a:solidFill>
                <a:srgbClr val="0070C0"/>
              </a:solidFill>
              <a:latin typeface="Tahoma" pitchFamily="34" charset="0"/>
            </a:endParaRPr>
          </a:p>
          <a:p>
            <a:pPr marL="914400" lvl="1" indent="-457200" algn="just">
              <a:buSzPct val="75000"/>
              <a:buFont typeface="Wingdings" pitchFamily="2" charset="2"/>
              <a:buChar char="Ø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ja-JP" sz="2600" dirty="0">
                <a:solidFill>
                  <a:srgbClr val="0070C0"/>
                </a:solidFill>
                <a:latin typeface="Tahoma" pitchFamily="34" charset="0"/>
              </a:rPr>
              <a:t>LMS Integration: </a:t>
            </a:r>
            <a:r>
              <a:rPr lang="en-US" altLang="ja-JP" sz="2600" dirty="0">
                <a:latin typeface="Tahoma" pitchFamily="34" charset="0"/>
              </a:rPr>
              <a:t>Integrate with learning platforms to provide seamless access for educators and students.</a:t>
            </a:r>
            <a:endParaRPr lang="en-US" altLang="ja-JP" sz="2600" dirty="0">
              <a:solidFill>
                <a:srgbClr val="0070C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26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22316</TotalTime>
  <Words>1076</Words>
  <Application>Microsoft Macintosh PowerPoint</Application>
  <PresentationFormat>On-screen Show (4:3)</PresentationFormat>
  <Paragraphs>239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Calibri Light</vt:lpstr>
      <vt:lpstr>Courier New</vt:lpstr>
      <vt:lpstr>Tahoma</vt:lpstr>
      <vt:lpstr>Wingdings</vt:lpstr>
      <vt:lpstr>Office Theme</vt:lpstr>
      <vt:lpstr>A Study on AI-Driven Question Generation Using ChatGPT for  Python Programming Education</vt:lpstr>
      <vt:lpstr>PowerPoint Presentation</vt:lpstr>
      <vt:lpstr>PowerPoint Presentation</vt:lpstr>
      <vt:lpstr>Python Programming Education</vt:lpstr>
      <vt:lpstr>Python Programming Education</vt:lpstr>
      <vt:lpstr>Importance of Practice for Learning</vt:lpstr>
      <vt:lpstr>PowerPoint Presentation</vt:lpstr>
      <vt:lpstr>PowerPoint Presentation</vt:lpstr>
      <vt:lpstr>Conceptual Workflow of Question Generation</vt:lpstr>
      <vt:lpstr>Source Code Analysis and Question Generation</vt:lpstr>
      <vt:lpstr>Prompt Design and Question Formatting</vt:lpstr>
      <vt:lpstr>Output and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Improvements for Code Completion Problem in Java Programming Learning Assistant System</dc:title>
  <dc:creator>Htoo Htoo　Sandi　Kyaw</dc:creator>
  <cp:lastModifiedBy>Khaing Hsu Wai</cp:lastModifiedBy>
  <cp:revision>827</cp:revision>
  <cp:lastPrinted>2023-03-14T07:43:31Z</cp:lastPrinted>
  <dcterms:created xsi:type="dcterms:W3CDTF">2019-01-17T07:19:54Z</dcterms:created>
  <dcterms:modified xsi:type="dcterms:W3CDTF">2024-11-10T15:39:59Z</dcterms:modified>
</cp:coreProperties>
</file>